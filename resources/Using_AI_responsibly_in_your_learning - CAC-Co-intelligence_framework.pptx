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443" r:id="rId5"/>
    <p:sldId id="442" r:id="rId6"/>
    <p:sldId id="444" r:id="rId7"/>
    <p:sldId id="445" r:id="rId8"/>
    <p:sldId id="446" r:id="rId9"/>
    <p:sldId id="4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92048E69-9E2E-3249-B015-F076C278607E}">
          <p14:sldIdLst>
            <p14:sldId id="443"/>
          </p14:sldIdLst>
        </p14:section>
        <p14:section name="Slides" id="{686D6FFB-BC88-3946-B11F-A65227DB8D95}">
          <p14:sldIdLst>
            <p14:sldId id="442"/>
            <p14:sldId id="444"/>
            <p14:sldId id="445"/>
            <p14:sldId id="446"/>
          </p14:sldIdLst>
        </p14:section>
        <p14:section name="Contact" id="{F8A756CC-D4B8-224E-8217-E6896E234F44}">
          <p14:sldIdLst>
            <p14:sldId id="41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1CC"/>
    <a:srgbClr val="51247A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E1DEAF-7652-C94F-BA97-09A2D3054E12}" v="1" dt="2026-02-16T02:43:40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 autoAdjust="0"/>
    <p:restoredTop sz="80272" autoAdjust="0"/>
  </p:normalViewPr>
  <p:slideViewPr>
    <p:cSldViewPr showGuides="1">
      <p:cViewPr varScale="1">
        <p:scale>
          <a:sx n="87" d="100"/>
          <a:sy n="87" d="100"/>
        </p:scale>
        <p:origin x="2648" y="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shanikolic.com/post/cac-co-intelligence-teaching-ai-use-that-strengthens-the-mind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CAC Co-intelligence Framework (</a:t>
            </a:r>
            <a:r>
              <a:rPr lang="en-A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Nikolic, S. 2025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 method for using AI ethically. It is grounded in humans and AI working as a team, to help students use this teamwork effectively without losing their own critical thinking skills.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framework follows a simple pattern: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Cognitive → AI → Cognitive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you must think and plan first (Cognitive), use the tool to support your work (AI), and then evaluate and refine the output yourself (Cognitive).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0415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93EAE-4098-D351-9CF6-60EF77BE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63EFB-1400-61FE-82AF-44E6DB818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04C30-741C-9013-CD9F-FD4A95933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Use the questions for each step, to guide your practice when working with AI.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Evaluation of AI (Cognitive – after AI) draws on critical thinking values of inquiry.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2CD91-0635-6A6A-0DBE-912D56636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7910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E7728F-8A85-DF13-E1AF-75E2A93E219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425" y="476672"/>
            <a:ext cx="1584127" cy="415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934B2-2948-8EFA-273A-78FFEBE064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3003" y="476672"/>
            <a:ext cx="5949572" cy="590507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18E225F-0D36-9E09-0E29-77686F5F9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08560"/>
            <a:ext cx="4660694" cy="1196503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8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6E3F5D4-36F8-373D-D701-0FF8D3E69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293096"/>
            <a:ext cx="4660694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E099D4B-4E15-CEC1-3412-EB3731DC62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2" y="2138783"/>
            <a:ext cx="4660693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ple and purple circles on a purple background&#10;&#10;AI-generated content may be incorrect.">
            <a:extLst>
              <a:ext uri="{FF2B5EF4-FFF2-40B4-BE49-F238E27FC236}">
                <a16:creationId xmlns:a16="http://schemas.microsoft.com/office/drawing/2014/main" id="{AA2200D0-D143-DCBA-A3D4-B712FCB52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539976"/>
            <a:ext cx="7488238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216991"/>
            <a:ext cx="7488238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AD11661-531B-4B30-7473-B472BB0D2E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61694"/>
            <a:ext cx="3744913" cy="37501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2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48009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pink gradient&#10;&#10;AI-generated content may be incorrect.">
            <a:extLst>
              <a:ext uri="{FF2B5EF4-FFF2-40B4-BE49-F238E27FC236}">
                <a16:creationId xmlns:a16="http://schemas.microsoft.com/office/drawing/2014/main" id="{9148998B-84C7-00BD-220C-CC9050D497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9E832F7-051D-8941-BEFC-BA3C9EFE1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80569"/>
            <a:ext cx="4228645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8A46B0F-6D19-4504-BB7C-AD33C5953E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365104"/>
            <a:ext cx="4228645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DA8C480-5E98-C233-4D6F-1C16AE04E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1985159"/>
            <a:ext cx="4199908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EFEBA-1D32-4499-C65C-D81E28CD37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1" y="476250"/>
            <a:ext cx="1584127" cy="415356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1C16364-654B-057D-C4FF-2A0477FFA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6318" y="1"/>
            <a:ext cx="6856415" cy="6858003"/>
          </a:xfrm>
          <a:custGeom>
            <a:avLst/>
            <a:gdLst>
              <a:gd name="csX0" fmla="*/ 0 w 6856415"/>
              <a:gd name="csY0" fmla="*/ 0 h 6858003"/>
              <a:gd name="csX1" fmla="*/ 6856415 w 6856415"/>
              <a:gd name="csY1" fmla="*/ 0 h 6858003"/>
              <a:gd name="csX2" fmla="*/ 6856415 w 6856415"/>
              <a:gd name="csY2" fmla="*/ 2914345 h 6858003"/>
              <a:gd name="csX3" fmla="*/ 3475968 w 6856415"/>
              <a:gd name="csY3" fmla="*/ 6842391 h 6858003"/>
              <a:gd name="csX4" fmla="*/ 3425606 w 6856415"/>
              <a:gd name="csY4" fmla="*/ 6858003 h 6858003"/>
              <a:gd name="csX5" fmla="*/ 3375244 w 6856415"/>
              <a:gd name="csY5" fmla="*/ 6842183 h 6858003"/>
              <a:gd name="csX6" fmla="*/ 0 w 6856415"/>
              <a:gd name="csY6" fmla="*/ 2914345 h 6858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6415" h="6858003">
                <a:moveTo>
                  <a:pt x="0" y="0"/>
                </a:moveTo>
                <a:lnTo>
                  <a:pt x="6856415" y="0"/>
                </a:lnTo>
                <a:lnTo>
                  <a:pt x="6856415" y="2914345"/>
                </a:lnTo>
                <a:cubicBezTo>
                  <a:pt x="6856415" y="4578940"/>
                  <a:pt x="5434645" y="6230838"/>
                  <a:pt x="3475968" y="6842391"/>
                </a:cubicBezTo>
                <a:lnTo>
                  <a:pt x="3425606" y="6858003"/>
                </a:lnTo>
                <a:lnTo>
                  <a:pt x="3375244" y="6842183"/>
                </a:lnTo>
                <a:cubicBezTo>
                  <a:pt x="1419479" y="6230006"/>
                  <a:pt x="0" y="4578108"/>
                  <a:pt x="0" y="291434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9260399-596A-9C24-223D-E3272F91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6814219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Contents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847FA-1991-B5DE-D0B8-B130ED59C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ED20FD1A-D07E-976E-EE58-6C1854E04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EFADAFC-35C0-7FF8-7AEC-AA9470906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3511A177-3064-9265-EA29-DEC181F5803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26974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DFDD0B3A-4305-B55A-4748-3C6086E3731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03199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83F5E66-EFB5-7C96-2B25-8050F9A74F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942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DB25363F-6960-462A-6024-058EE2DCF55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3D22C2E7-B324-D8E4-7D70-CBD7E813F5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3199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93F7F85B-A63E-916D-240E-C6BC4B813C4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03199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58" name="Text Placeholder 50">
            <a:extLst>
              <a:ext uri="{FF2B5EF4-FFF2-40B4-BE49-F238E27FC236}">
                <a16:creationId xmlns:a16="http://schemas.microsoft.com/office/drawing/2014/main" id="{A75FEC3F-4A08-4034-3C6E-FBDC1654944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2697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613BB411-4D8A-51A3-FA0C-A818E3E03F8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697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98D33835-74AF-8A30-B9EE-9FDABEB6C9E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9425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2D780CF7-9FFC-8427-F804-9606032B18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6974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2" name="Text Placeholder 20">
            <a:extLst>
              <a:ext uri="{FF2B5EF4-FFF2-40B4-BE49-F238E27FC236}">
                <a16:creationId xmlns:a16="http://schemas.microsoft.com/office/drawing/2014/main" id="{4035CACC-6326-0D5E-AB24-2AC017FBEE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03199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C3E340EE-A2F0-1159-9329-5756F5F7BE5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942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4" name="Text Placeholder 50">
            <a:extLst>
              <a:ext uri="{FF2B5EF4-FFF2-40B4-BE49-F238E27FC236}">
                <a16:creationId xmlns:a16="http://schemas.microsoft.com/office/drawing/2014/main" id="{2BD0702A-F825-BAB6-1EA1-99964C0486F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942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5" name="Text Placeholder 50">
            <a:extLst>
              <a:ext uri="{FF2B5EF4-FFF2-40B4-BE49-F238E27FC236}">
                <a16:creationId xmlns:a16="http://schemas.microsoft.com/office/drawing/2014/main" id="{BB198AFA-CC9D-5A32-C6D5-8EE55C48B6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03199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0A64674F-9532-C648-EA82-43BE721C86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03199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7" name="Text Placeholder 50">
            <a:extLst>
              <a:ext uri="{FF2B5EF4-FFF2-40B4-BE49-F238E27FC236}">
                <a16:creationId xmlns:a16="http://schemas.microsoft.com/office/drawing/2014/main" id="{3310ED37-C52F-7262-0B80-E0D70DF28B1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12697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8" name="Text Placeholder 50">
            <a:extLst>
              <a:ext uri="{FF2B5EF4-FFF2-40B4-BE49-F238E27FC236}">
                <a16:creationId xmlns:a16="http://schemas.microsoft.com/office/drawing/2014/main" id="{F2ABF0B6-6F3B-3D8A-C607-D1DD4DE7F42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2697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9" name="Text Placeholder 50">
            <a:extLst>
              <a:ext uri="{FF2B5EF4-FFF2-40B4-BE49-F238E27FC236}">
                <a16:creationId xmlns:a16="http://schemas.microsoft.com/office/drawing/2014/main" id="{258D4A9D-7F5A-B58B-F1C5-5FA54508EA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942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0" name="Text Placeholder 50">
            <a:extLst>
              <a:ext uri="{FF2B5EF4-FFF2-40B4-BE49-F238E27FC236}">
                <a16:creationId xmlns:a16="http://schemas.microsoft.com/office/drawing/2014/main" id="{41C82DD2-5FEE-DF74-B91A-08EA68F5617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942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71" name="Text Placeholder 50">
            <a:extLst>
              <a:ext uri="{FF2B5EF4-FFF2-40B4-BE49-F238E27FC236}">
                <a16:creationId xmlns:a16="http://schemas.microsoft.com/office/drawing/2014/main" id="{C419A681-6FA3-F318-75CB-2CA99437ED9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3199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2" name="Text Placeholder 50">
            <a:extLst>
              <a:ext uri="{FF2B5EF4-FFF2-40B4-BE49-F238E27FC236}">
                <a16:creationId xmlns:a16="http://schemas.microsoft.com/office/drawing/2014/main" id="{213566ED-E0D9-DD79-95EA-43E7D8E0043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03199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73" name="Text Placeholder 50">
            <a:extLst>
              <a:ext uri="{FF2B5EF4-FFF2-40B4-BE49-F238E27FC236}">
                <a16:creationId xmlns:a16="http://schemas.microsoft.com/office/drawing/2014/main" id="{8164237E-900B-19D5-C46E-1A05AB248B1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12697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4" name="Text Placeholder 50">
            <a:extLst>
              <a:ext uri="{FF2B5EF4-FFF2-40B4-BE49-F238E27FC236}">
                <a16:creationId xmlns:a16="http://schemas.microsoft.com/office/drawing/2014/main" id="{89819A83-5634-E387-5A8A-776CB57C08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2697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7688CC-CF50-8B09-6349-D9EBFF6CFAF6}"/>
              </a:ext>
            </a:extLst>
          </p:cNvPr>
          <p:cNvSpPr/>
          <p:nvPr userDrawn="1"/>
        </p:nvSpPr>
        <p:spPr>
          <a:xfrm>
            <a:off x="0" y="286"/>
            <a:ext cx="12192000" cy="6857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9121" y="1628774"/>
            <a:ext cx="5616575" cy="47529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table</a:t>
            </a:r>
            <a:endParaRPr lang="en-AU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87503C3-B6DF-DC97-7CC2-D17E823DC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21" y="895344"/>
            <a:ext cx="681421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Contents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633E9-6EF0-67DF-EDBA-DD8C76BCF21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8BAA408-E3C2-1785-01EB-39071591CA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4DFBF4C-8CC5-D979-7560-108442F979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9798F-A694-B632-320E-87B23996EA42}"/>
              </a:ext>
            </a:extLst>
          </p:cNvPr>
          <p:cNvSpPr/>
          <p:nvPr userDrawn="1"/>
        </p:nvSpPr>
        <p:spPr>
          <a:xfrm>
            <a:off x="9768408" y="152687"/>
            <a:ext cx="2423592" cy="1044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urple and pink circles&#10;&#10;AI-generated content may be incorrect.">
            <a:extLst>
              <a:ext uri="{FF2B5EF4-FFF2-40B4-BE49-F238E27FC236}">
                <a16:creationId xmlns:a16="http://schemas.microsoft.com/office/drawing/2014/main" id="{FE7F088E-A593-E0D0-876C-D0E5DE6E3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379" y="476250"/>
            <a:ext cx="39624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17441-3242-4A2B-A38D-01AD5E507A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69D81-322F-846D-FCF2-3F26F1B21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6632C79-E6EF-8603-13B6-430F0089D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636912"/>
            <a:ext cx="4529596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 goes here</a:t>
            </a: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6E4D25-A5E9-48E9-3262-EC46D37667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2132856"/>
            <a:ext cx="1780373" cy="3504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24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01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422C64C-6E74-694B-7D11-5A95CF8ED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7066" y="2644009"/>
            <a:ext cx="3279414" cy="124371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prae</a:t>
            </a:r>
            <a:r>
              <a:rPr lang="en-US" dirty="0"/>
              <a:t> sent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CEFE01E-62B6-86EC-5B5C-F1EC7A5A19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A7C31BB-BBB5-01D3-C03A-56100B5B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84F05AB-744C-B436-B6DE-9CB6380731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F4138E5-B1E7-1B20-8E5C-D58ECB0091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1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830ECCD8-80B1-EF49-1930-8671D36FB1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84C1955-2009-E738-2E69-5C68F226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75E1D-FF13-4267-440E-2C862D6A5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F6E292F-64A1-B92F-821C-5D5374F553FE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785857AA-3C69-6FBB-4A53-A62053F0C40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268761"/>
            <a:ext cx="3485677" cy="1799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205F563-7148-A4BC-065D-70F31E7CD2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D34AD85-3B68-F6E4-2B32-A5E634C6A17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19D9DDF-5659-A8CD-1F31-621F560242E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79CCB2B-EA6A-07F3-E374-7C69E2AA4BB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4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A629DB-68F8-4F09-503D-5AA9266F7E1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8F0D21FF-80A7-826A-4A58-57A092E872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256D2-F837-AC53-A987-93959E061C5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F9B7C-CB28-3A90-481A-DC6BEF640652}"/>
              </a:ext>
            </a:extLst>
          </p:cNvPr>
          <p:cNvSpPr/>
          <p:nvPr userDrawn="1"/>
        </p:nvSpPr>
        <p:spPr>
          <a:xfrm>
            <a:off x="0" y="286"/>
            <a:ext cx="12192000" cy="685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0F3E36A-4EBF-47B9-BCC1-75D2781A09E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484784"/>
            <a:ext cx="3587751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03AB8B9-705D-9EB6-61DF-4A1C6194F0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484784"/>
            <a:ext cx="3485678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43997FD-E4BE-6666-7605-3DC69034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484785"/>
            <a:ext cx="3585888" cy="136807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8CD5B7-3BBA-3A3A-0CFF-D990A76AA2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3284662"/>
            <a:ext cx="3744914" cy="273662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BF3F8-121A-7C93-0AA4-68702D146F2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832EEB49-E3E8-2949-364A-7A731489AEFA}"/>
              </a:ext>
            </a:extLst>
          </p:cNvPr>
          <p:cNvSpPr/>
          <p:nvPr userDrawn="1"/>
        </p:nvSpPr>
        <p:spPr>
          <a:xfrm flipH="1" flipV="1">
            <a:off x="8124826" y="0"/>
            <a:ext cx="4067173" cy="6858000"/>
          </a:xfrm>
          <a:prstGeom prst="round1Rect">
            <a:avLst>
              <a:gd name="adj" fmla="val 36146"/>
            </a:avLst>
          </a:prstGeom>
          <a:gradFill>
            <a:gsLst>
              <a:gs pos="0">
                <a:schemeClr val="accent2"/>
              </a:gs>
              <a:gs pos="4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92295" y="156527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192295" y="278129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92295" y="399730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192295" y="521332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688162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688162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688162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688162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276696D-8D14-4585-9604-5A008488CFB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4EB503B-F620-32DF-36DF-10A7FBA9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7390685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6F8CCC-8CBE-E992-6E21-C9AB4B1A34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739068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BA7640B-B8AC-33C0-35DA-CEEFFC9B821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798AF3-3C99-5F49-CB7E-1E0E7D35FF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7665-A294-1EA5-FA10-A5E2C8A9E5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66DC6-E98D-4EB4-3BE2-DBD96355BA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4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83074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9117C5C-8131-4EBC-FB2F-515A84B9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4ED851F-A74B-8BEB-BD56-328B63E75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DD4130B3-A21B-BC5E-65C5-C4114440B1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7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FA429BF-02FC-9EB2-8DE8-364B75C4DCF9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90327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4750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8BC80DF-B4A1-B427-757B-C8F10AB6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BF508D1-ECA5-3CA6-0BF5-15748D904F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8EA84CA-9C46-6B04-A550-7D02537DA96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79424" y="448017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7109590-4252-2C31-19EF-25F6AD9873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CE408F5-62CC-4EB4-5FDD-927F021A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D91BB3C-538D-90D4-3CED-E09116993D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6750F02-6810-AFC6-7EB5-8805498279D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0" y="2255224"/>
            <a:ext cx="732814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C11E16D7-E5EB-37A0-5AD9-2394356E38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39068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AA8668-06C8-FA91-21F0-BE6E9CE8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A358A85-0EFD-E04C-E56D-736FED2D72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84ACD41-4423-E11C-E6D4-A1AB88C254D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A8FC85D-D8A3-881C-1F52-364C4980DC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8181528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BC66E0C-5E5E-C471-C0DD-5A0908B6090B}"/>
              </a:ext>
            </a:extLst>
          </p:cNvPr>
          <p:cNvSpPr/>
          <p:nvPr userDrawn="1"/>
        </p:nvSpPr>
        <p:spPr>
          <a:xfrm flipV="1">
            <a:off x="-2" y="-2"/>
            <a:ext cx="4224339" cy="6381750"/>
          </a:xfrm>
          <a:custGeom>
            <a:avLst/>
            <a:gdLst>
              <a:gd name="csX0" fmla="*/ 0 w 4224339"/>
              <a:gd name="csY0" fmla="*/ 6381750 h 6381750"/>
              <a:gd name="csX1" fmla="*/ 4224339 w 4224339"/>
              <a:gd name="csY1" fmla="*/ 6381750 h 6381750"/>
              <a:gd name="csX2" fmla="*/ 4224339 w 4224339"/>
              <a:gd name="csY2" fmla="*/ 1526928 h 6381750"/>
              <a:gd name="csX3" fmla="*/ 2853529 w 4224339"/>
              <a:gd name="csY3" fmla="*/ 7881 h 6381750"/>
              <a:gd name="csX4" fmla="*/ 2697449 w 4224339"/>
              <a:gd name="csY4" fmla="*/ 0 h 6381750"/>
              <a:gd name="csX5" fmla="*/ 0 w 4224339"/>
              <a:gd name="csY5" fmla="*/ 0 h 6381750"/>
              <a:gd name="csX6" fmla="*/ 0 w 4224339"/>
              <a:gd name="csY6" fmla="*/ 6381750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24339" h="6381750">
                <a:moveTo>
                  <a:pt x="0" y="6381750"/>
                </a:moveTo>
                <a:lnTo>
                  <a:pt x="4224339" y="6381750"/>
                </a:lnTo>
                <a:lnTo>
                  <a:pt x="4224339" y="1526928"/>
                </a:lnTo>
                <a:cubicBezTo>
                  <a:pt x="4224339" y="736334"/>
                  <a:pt x="3623492" y="86076"/>
                  <a:pt x="2853529" y="7881"/>
                </a:cubicBezTo>
                <a:lnTo>
                  <a:pt x="2697449" y="0"/>
                </a:lnTo>
                <a:lnTo>
                  <a:pt x="0" y="0"/>
                </a:lnTo>
                <a:lnTo>
                  <a:pt x="0" y="638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1198"/>
            <a:ext cx="3312320" cy="1241658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>
                <a:solidFill>
                  <a:schemeClr val="bg1"/>
                </a:solidFill>
              </a:rPr>
              <a:t>Click to edit Master title style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97D5DBB-B4A6-4BEC-5ACC-FD2EA2AE3F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D65D4F27-BE5A-565C-2DAE-B92AC6727C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A6C279F-EDA7-57F0-098A-A5B1F8020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9974" y="0"/>
            <a:ext cx="12191999" cy="6381751"/>
          </a:xfrm>
          <a:custGeom>
            <a:avLst/>
            <a:gdLst>
              <a:gd name="csX0" fmla="*/ 0 w 12191999"/>
              <a:gd name="csY0" fmla="*/ 0 h 6381751"/>
              <a:gd name="csX1" fmla="*/ 12191999 w 12191999"/>
              <a:gd name="csY1" fmla="*/ 0 h 6381751"/>
              <a:gd name="csX2" fmla="*/ 12191999 w 12191999"/>
              <a:gd name="csY2" fmla="*/ 6381751 h 6381751"/>
              <a:gd name="csX3" fmla="*/ 2697451 w 12191999"/>
              <a:gd name="csY3" fmla="*/ 6381751 h 6381751"/>
              <a:gd name="csX4" fmla="*/ 2853531 w 12191999"/>
              <a:gd name="csY4" fmla="*/ 6373870 h 6381751"/>
              <a:gd name="csX5" fmla="*/ 4224342 w 12191999"/>
              <a:gd name="csY5" fmla="*/ 4854823 h 6381751"/>
              <a:gd name="csX6" fmla="*/ 4224342 w 12191999"/>
              <a:gd name="csY6" fmla="*/ 1 h 6381751"/>
              <a:gd name="csX7" fmla="*/ 2 w 12191999"/>
              <a:gd name="csY7" fmla="*/ 1 h 6381751"/>
              <a:gd name="csX8" fmla="*/ 2 w 12191999"/>
              <a:gd name="csY8" fmla="*/ 6381751 h 6381751"/>
              <a:gd name="csX9" fmla="*/ 0 w 12191999"/>
              <a:gd name="csY9" fmla="*/ 6381751 h 6381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1999" h="6381751">
                <a:moveTo>
                  <a:pt x="0" y="0"/>
                </a:moveTo>
                <a:lnTo>
                  <a:pt x="12191999" y="0"/>
                </a:lnTo>
                <a:lnTo>
                  <a:pt x="12191999" y="6381751"/>
                </a:lnTo>
                <a:lnTo>
                  <a:pt x="2697451" y="6381751"/>
                </a:lnTo>
                <a:lnTo>
                  <a:pt x="2853531" y="6373870"/>
                </a:lnTo>
                <a:cubicBezTo>
                  <a:pt x="3623494" y="6295675"/>
                  <a:pt x="4224342" y="5645417"/>
                  <a:pt x="4224342" y="4854823"/>
                </a:cubicBezTo>
                <a:lnTo>
                  <a:pt x="4224342" y="1"/>
                </a:lnTo>
                <a:lnTo>
                  <a:pt x="2" y="1"/>
                </a:lnTo>
                <a:lnTo>
                  <a:pt x="2" y="6381751"/>
                </a:lnTo>
                <a:lnTo>
                  <a:pt x="0" y="63817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16718B7-EF0B-0AAA-4AA7-80B08F0D82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243917"/>
            <a:ext cx="3312320" cy="253470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AU" dirty="0"/>
              <a:t>Enter text here.</a:t>
            </a:r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8010C4D-4846-733B-A504-3488020A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FADF4A9-8D82-B20E-082C-AE0FF06B01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DCFD398-BD29-8074-BF4C-3A802678584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79425" y="2255838"/>
            <a:ext cx="11233149" cy="4125914"/>
          </a:xfrm>
          <a:custGeom>
            <a:avLst/>
            <a:gdLst>
              <a:gd name="csX0" fmla="*/ 0 w 11233149"/>
              <a:gd name="csY0" fmla="*/ 0 h 4125914"/>
              <a:gd name="csX1" fmla="*/ 9780839 w 11233149"/>
              <a:gd name="csY1" fmla="*/ 0 h 4125914"/>
              <a:gd name="csX2" fmla="*/ 9918432 w 11233149"/>
              <a:gd name="csY2" fmla="*/ 6948 h 4125914"/>
              <a:gd name="csX3" fmla="*/ 11233149 w 11233149"/>
              <a:gd name="csY3" fmla="*/ 1463836 h 4125914"/>
              <a:gd name="csX4" fmla="*/ 11233149 w 11233149"/>
              <a:gd name="csY4" fmla="*/ 4125914 h 4125914"/>
              <a:gd name="csX5" fmla="*/ 0 w 11233149"/>
              <a:gd name="csY5" fmla="*/ 4125914 h 4125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233149" h="4125914">
                <a:moveTo>
                  <a:pt x="0" y="0"/>
                </a:moveTo>
                <a:lnTo>
                  <a:pt x="9780839" y="0"/>
                </a:lnTo>
                <a:lnTo>
                  <a:pt x="9918432" y="6948"/>
                </a:lnTo>
                <a:cubicBezTo>
                  <a:pt x="10656889" y="81942"/>
                  <a:pt x="11233149" y="705593"/>
                  <a:pt x="11233149" y="1463836"/>
                </a:cubicBezTo>
                <a:lnTo>
                  <a:pt x="11233149" y="4125914"/>
                </a:lnTo>
                <a:lnTo>
                  <a:pt x="0" y="412591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1968" y="6006222"/>
            <a:ext cx="11200605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 and bring to front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9C5E-9C74-3B22-9EF3-7486BE45D0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21EB1417-F284-8693-4B49-9F2DAA9FE7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32654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A58D727-BB58-3FDD-F908-D614190D9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254264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AF720F-B0B1-5AFC-396A-63C9E3DE51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25426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2F5B3-C559-A051-FED5-A21477E72CA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3A3D459F-7726-6A0A-5AED-4ECEB303B9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533A7A0-F601-4B65-6D3F-089EE59FA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2318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06848-6332-CAAE-B118-3335117D9E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2318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70C628A-9409-8A34-7DD1-450B750B02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00881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A7D26F4-036A-F2F1-403F-445458B4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6984728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698A590-2A25-0F65-E755-28E9F0E25E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698472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CCE597F-86D7-DE24-0269-B59E472911C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7FE2C2C7-E69B-D4BD-540E-94A6945AA5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345633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D4A3C22-A0DB-4971-AE76-220B91354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449836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C7C509-88E0-8755-5280-4C93616BFE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44983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87B4F8-6381-7CB4-1769-4E71DA1485D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E95E40-1F67-A4BD-91C4-10B06BFC34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9B085CFE-8F09-5C09-45D9-4593D77EC85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2FC4ACD-EFA3-1B1F-4B54-E7DC753B9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31034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1290900-1990-559A-FAD4-99BAAD6596A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3103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17195E38-7FC6-7C82-976B-914090CDBB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16622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5B1274-67FF-A2FC-0D74-AEBB180A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7152748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B058D29-C047-45AA-11DE-4409C6E9A0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71527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F4C80DA-14CA-F090-B26A-86FCAC7C3DA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4" y="893308"/>
            <a:ext cx="3419087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Title style</a:t>
            </a:r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19CBD8E-3770-7829-B81C-887EC570AA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4190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2F3770-19C5-C250-0939-BF474B72D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9424" y="1573248"/>
            <a:ext cx="34190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5949" y="3862812"/>
            <a:ext cx="3587751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4431" y="3862812"/>
            <a:ext cx="3485678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302" y="3862065"/>
            <a:ext cx="3594272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9EFA8B0-6F1D-3FA5-D5DE-A78BF8759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2CD57-BDE9-E3AF-4B63-2D4ED2B9B8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EAB24A-D8DA-1396-1E18-B18BBCBFDE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007295-B63F-1B35-3794-AF5DE83FCA4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C8E6D614-DBC8-6713-90B3-CFDB1407185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5418129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A28934-1104-B82C-2D0A-4CF994E9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463A811-89AA-C956-B600-9A35D201FD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363152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363152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363152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363152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1D54C86-4413-02C5-0A93-C116834B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DE0003D-4D2E-6D51-02D8-02AC677C46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2894"/>
            <a:ext cx="5346039" cy="5108856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3C3501C-A414-1050-2672-EEB7D3C6A7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6218"/>
            <a:ext cx="5342561" cy="5105532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2D64416-2888-E40E-073B-DD693DAFFE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276218"/>
            <a:ext cx="5327974" cy="5091592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62319ED4-653B-CEC3-3E72-36058D6EFF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5613D74-E949-9C78-0F5C-A4BEC4A3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305818"/>
            <a:ext cx="5616575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9DF032-A55C-0205-77CC-FBAD702882E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FB939B-1052-2EB4-A2BD-0ACCD8CBF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768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920B90-DAA5-B751-5EA1-5F06FA9E90B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05818"/>
            <a:ext cx="5616575" cy="30844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F226896-64ED-7B6B-AAB5-7F257FD8F066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7368B7D-B079-FEEC-53CC-564CF45D4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16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51D36C-464A-753A-A6C2-6007FD2CD35B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14346"/>
            <a:ext cx="5616575" cy="30674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5853BB6-C502-32B6-58E2-30B288C2E67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3F47B8-B250-F48C-4B21-5272C7937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736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200" y="2255224"/>
            <a:ext cx="3584502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245259"/>
            <a:ext cx="3584502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750" y="2247916"/>
            <a:ext cx="3584502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3184A03-36F4-FCF1-20AB-9B1635CB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BFBA294-9F8C-CCE9-9C42-DAD73C473A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94748" y="2255224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6325" y="3959842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1A52EEE-7440-4E1E-7FFA-F213B4D8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4E25D70-C914-D1F1-DA51-874D6B0D50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2" name="Content Placeholder 28">
            <a:extLst>
              <a:ext uri="{FF2B5EF4-FFF2-40B4-BE49-F238E27FC236}">
                <a16:creationId xmlns:a16="http://schemas.microsoft.com/office/drawing/2014/main" id="{68A78954-C598-334A-B4E0-A0F0D0361E6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85207" y="4890961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50AAF34-C7A5-1CA9-8F66-9A655EC50CB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66782" y="2252914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3483" y="2653252"/>
            <a:ext cx="5399089" cy="1567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13484" y="4705409"/>
            <a:ext cx="5399089" cy="16873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485" y="4426925"/>
            <a:ext cx="5401302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13484" y="2255225"/>
            <a:ext cx="5401300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3F5296CB-B0A0-30E7-090B-56B41A0A01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48E43D-6B82-3167-3033-C5FED336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86FE995-3B5D-9762-9039-0BBDE09B5A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96A8804-7F42-E0AD-5EA9-31B3BD29CF8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4269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8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80356" y="2240725"/>
            <a:ext cx="11228570" cy="4141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298BCD9-9C21-56E1-7707-F77B44BB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77B2126-C11C-FA39-C0A6-D201513ACE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96026" y="3108744"/>
            <a:ext cx="2304000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479425" y="1381104"/>
            <a:ext cx="3442433" cy="5000040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72290" y="1381104"/>
            <a:ext cx="2301456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700734"/>
            <a:ext cx="2952328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7408" y="5553582"/>
            <a:ext cx="2808312" cy="49327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996026" y="1381104"/>
            <a:ext cx="2304000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72290" y="4725144"/>
            <a:ext cx="2301456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176FF6-6361-5464-4628-C711AA41332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46010" y="1381104"/>
            <a:ext cx="2966565" cy="5000040"/>
          </a:xfrm>
          <a:custGeom>
            <a:avLst/>
            <a:gdLst>
              <a:gd name="csX0" fmla="*/ 0 w 2966565"/>
              <a:gd name="csY0" fmla="*/ 0 h 5000040"/>
              <a:gd name="csX1" fmla="*/ 2472128 w 2966565"/>
              <a:gd name="csY1" fmla="*/ 0 h 5000040"/>
              <a:gd name="csX2" fmla="*/ 2966565 w 2966565"/>
              <a:gd name="csY2" fmla="*/ 494437 h 5000040"/>
              <a:gd name="csX3" fmla="*/ 2966565 w 2966565"/>
              <a:gd name="csY3" fmla="*/ 5000040 h 5000040"/>
              <a:gd name="csX4" fmla="*/ 0 w 2966565"/>
              <a:gd name="csY4" fmla="*/ 5000040 h 50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66565" h="5000040">
                <a:moveTo>
                  <a:pt x="0" y="0"/>
                </a:moveTo>
                <a:lnTo>
                  <a:pt x="2472128" y="0"/>
                </a:lnTo>
                <a:cubicBezTo>
                  <a:pt x="2745198" y="0"/>
                  <a:pt x="2966565" y="221367"/>
                  <a:pt x="2966565" y="494437"/>
                </a:cubicBezTo>
                <a:lnTo>
                  <a:pt x="2966565" y="5000040"/>
                </a:lnTo>
                <a:lnTo>
                  <a:pt x="0" y="50000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77706-EC87-69BB-A13C-3DBE025C7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79394" y="3563385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79425" y="2568471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79394" y="3904257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79394" y="4204989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79394" y="4420889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9376" y="6283729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50D34-62BC-17A1-2183-1AFBC4F90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F271C1A-1346-A2EE-441D-A300778F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25" y="6381750"/>
            <a:ext cx="3744913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7" y="6381750"/>
            <a:ext cx="504007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7ADE36-9EB9-1A3D-CE99-C5552C1ECBB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819" r:id="rId2"/>
    <p:sldLayoutId id="2147483816" r:id="rId3"/>
    <p:sldLayoutId id="2147483799" r:id="rId4"/>
    <p:sldLayoutId id="2147483800" r:id="rId5"/>
    <p:sldLayoutId id="2147483792" r:id="rId6"/>
    <p:sldLayoutId id="2147483650" r:id="rId7"/>
    <p:sldLayoutId id="2147483652" r:id="rId8"/>
    <p:sldLayoutId id="2147483778" r:id="rId9"/>
    <p:sldLayoutId id="2147483804" r:id="rId10"/>
    <p:sldLayoutId id="2147483805" r:id="rId11"/>
    <p:sldLayoutId id="2147483803" r:id="rId12"/>
    <p:sldLayoutId id="2147483806" r:id="rId13"/>
    <p:sldLayoutId id="2147483779" r:id="rId14"/>
    <p:sldLayoutId id="2147483728" r:id="rId15"/>
    <p:sldLayoutId id="2147483656" r:id="rId16"/>
    <p:sldLayoutId id="2147483732" r:id="rId17"/>
    <p:sldLayoutId id="2147483793" r:id="rId18"/>
    <p:sldLayoutId id="2147483657" r:id="rId19"/>
    <p:sldLayoutId id="2147483765" r:id="rId20"/>
    <p:sldLayoutId id="2147483787" r:id="rId21"/>
    <p:sldLayoutId id="2147483788" r:id="rId22"/>
    <p:sldLayoutId id="2147483794" r:id="rId23"/>
    <p:sldLayoutId id="2147483795" r:id="rId24"/>
    <p:sldLayoutId id="2147483796" r:id="rId25"/>
    <p:sldLayoutId id="2147483791" r:id="rId26"/>
    <p:sldLayoutId id="2147483797" r:id="rId27"/>
    <p:sldLayoutId id="2147483790" r:id="rId28"/>
    <p:sldLayoutId id="2147483798" r:id="rId29"/>
    <p:sldLayoutId id="2147483768" r:id="rId30"/>
    <p:sldLayoutId id="2147483770" r:id="rId31"/>
    <p:sldLayoutId id="2147483771" r:id="rId32"/>
    <p:sldLayoutId id="2147483821" r:id="rId33"/>
    <p:sldLayoutId id="2147483822" r:id="rId34"/>
    <p:sldLayoutId id="2147483823" r:id="rId35"/>
    <p:sldLayoutId id="2147483789" r:id="rId36"/>
    <p:sldLayoutId id="2147483776" r:id="rId37"/>
    <p:sldLayoutId id="2147483777" r:id="rId38"/>
    <p:sldLayoutId id="2147483820" r:id="rId39"/>
    <p:sldLayoutId id="2147483808" r:id="rId40"/>
    <p:sldLayoutId id="2147483814" r:id="rId41"/>
    <p:sldLayoutId id="2147483811" r:id="rId42"/>
    <p:sldLayoutId id="2147483780" r:id="rId43"/>
    <p:sldLayoutId id="2147483813" r:id="rId44"/>
    <p:sldLayoutId id="2147483812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302" userDrawn="1">
          <p15:clr>
            <a:srgbClr val="F26B43"/>
          </p15:clr>
        </p15:guide>
        <p15:guide id="7" orient="horz" pos="300" userDrawn="1">
          <p15:clr>
            <a:srgbClr val="F26B43"/>
          </p15:clr>
        </p15:guide>
        <p15:guide id="11" orient="horz" pos="4020" userDrawn="1">
          <p15:clr>
            <a:srgbClr val="F26B43"/>
          </p15:clr>
        </p15:guide>
        <p15:guide id="13" pos="7378" userDrawn="1">
          <p15:clr>
            <a:srgbClr val="F26B43"/>
          </p15:clr>
        </p15:guide>
        <p15:guide id="14" orient="horz" pos="1026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  <p15:guide id="21" pos="2661" userDrawn="1">
          <p15:clr>
            <a:srgbClr val="F26B43"/>
          </p15:clr>
        </p15:guide>
        <p15:guide id="22" pos="50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6C5B37-45B8-D8E6-06A0-A4F56CE69A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The CAC Co-intelligence framework is one example of a framework that you could use to guide students in using AI responsibly. It is a simple framework that keeps humans in control and thinking critically - before, during, and after AI use.</a:t>
            </a:r>
          </a:p>
          <a:p>
            <a:r>
              <a:rPr lang="en-US" b="0" dirty="0">
                <a:solidFill>
                  <a:schemeClr val="tx1"/>
                </a:solidFill>
              </a:rPr>
              <a:t>Some tips: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Embed within an authentic task – </a:t>
            </a:r>
            <a:r>
              <a:rPr lang="en-US" b="0" dirty="0">
                <a:solidFill>
                  <a:schemeClr val="tx1"/>
                </a:solidFill>
              </a:rPr>
              <a:t>Introduce the framework in the context of a specific assessment or learning activity. Model how it applies to the task and require students to explicitly use the framework as part of their process.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Adapt the questions to your content – </a:t>
            </a:r>
            <a:r>
              <a:rPr lang="en-US" b="0" dirty="0">
                <a:solidFill>
                  <a:schemeClr val="tx1"/>
                </a:solidFill>
              </a:rPr>
              <a:t>Adjust the questions/prompts for each of the stages to suit your task or course.</a:t>
            </a:r>
          </a:p>
          <a:p>
            <a:pPr marL="465750" lvl="2" indent="-285750"/>
            <a:r>
              <a:rPr lang="en-US" sz="1600" b="1" dirty="0">
                <a:solidFill>
                  <a:schemeClr val="tx1"/>
                </a:solidFill>
              </a:rPr>
              <a:t>Critical Thinking Values of inquiry – </a:t>
            </a:r>
            <a:r>
              <a:rPr lang="en-US" sz="1600" dirty="0">
                <a:solidFill>
                  <a:schemeClr val="tx1"/>
                </a:solidFill>
              </a:rPr>
              <a:t>The questions in the Cognitive (After AI) stage are grounded in critical thinking values of inquiry (e.g., accuracy, relevance). These provide a foundation for developing students’ evaluation skills. You may </a:t>
            </a:r>
            <a:r>
              <a:rPr lang="en-US" sz="1600" dirty="0"/>
              <a:t>adapt the wording or </a:t>
            </a:r>
            <a:r>
              <a:rPr lang="en-US" sz="1600" dirty="0" err="1"/>
              <a:t>contextualise</a:t>
            </a:r>
            <a:r>
              <a:rPr lang="en-US" sz="1600" dirty="0"/>
              <a:t> the prompts to align with the task but aim to keep the underlying values.</a:t>
            </a:r>
            <a:endParaRPr lang="en-US" sz="1600" b="0" dirty="0">
              <a:solidFill>
                <a:schemeClr val="tx1"/>
              </a:solidFill>
            </a:endParaRPr>
          </a:p>
          <a:p>
            <a:pPr marL="465750" lvl="2" indent="-285750"/>
            <a:r>
              <a:rPr lang="en-US" sz="1600" b="1" dirty="0">
                <a:solidFill>
                  <a:schemeClr val="tx1"/>
                </a:solidFill>
              </a:rPr>
              <a:t>Explain the ‘why’ – </a:t>
            </a:r>
            <a:r>
              <a:rPr lang="en-US" sz="1600" b="0" dirty="0">
                <a:solidFill>
                  <a:schemeClr val="tx1"/>
                </a:solidFill>
              </a:rPr>
              <a:t>Clearly articulate to students why responsible AI use matters in your academic and professional context. Students are more likely to engage meaningfully when they understand the purpose behind expectations.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8B5BCE-1E2F-C026-4A11-988EE583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(for staff)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25123-B3A6-8F66-C80A-A0BD24443C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F4343-0210-75F2-FBDE-3FD380D0D84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C5ABDC-8935-8743-B4F5-3AA24172CDA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Using this template</a:t>
            </a:r>
          </a:p>
        </p:txBody>
      </p:sp>
    </p:spTree>
    <p:extLst>
      <p:ext uri="{BB962C8B-B14F-4D97-AF65-F5344CB8AC3E}">
        <p14:creationId xmlns:p14="http://schemas.microsoft.com/office/powerpoint/2010/main" val="95779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438B-9458-5BC0-87F9-D7942F91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03" y="2232497"/>
            <a:ext cx="4660694" cy="1196503"/>
          </a:xfrm>
        </p:spPr>
        <p:txBody>
          <a:bodyPr/>
          <a:lstStyle/>
          <a:p>
            <a:r>
              <a:rPr lang="en-US" dirty="0"/>
              <a:t>Using AI responsibly in your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1C353-6588-E7EF-ED52-64B7794BF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CAC Co-intelligence framework</a:t>
            </a:r>
          </a:p>
        </p:txBody>
      </p:sp>
    </p:spTree>
    <p:extLst>
      <p:ext uri="{BB962C8B-B14F-4D97-AF65-F5344CB8AC3E}">
        <p14:creationId xmlns:p14="http://schemas.microsoft.com/office/powerpoint/2010/main" val="186273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49AC53-CF57-3BDF-8DEF-010A1C168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 Co-intelligence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B5D23-C04B-840C-D90B-74FADC7714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 dirty="0"/>
              <a:t>Developed by Chloe Salisbury. Last updated 16/2/26.</a:t>
            </a:r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C893C-F6E8-9A47-AE55-0D226F34CFC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0C26CB-3C8C-380F-40EF-2EF2FC0F63A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Are you using AI, or is AI using you?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B53BBC-70C3-9756-C831-E01C096B5B98}"/>
              </a:ext>
            </a:extLst>
          </p:cNvPr>
          <p:cNvGrpSpPr/>
          <p:nvPr/>
        </p:nvGrpSpPr>
        <p:grpSpPr>
          <a:xfrm>
            <a:off x="1343472" y="2267744"/>
            <a:ext cx="9576784" cy="3225856"/>
            <a:chOff x="1343472" y="2267744"/>
            <a:chExt cx="9576784" cy="32258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DFEA8CD-E40C-9073-A26F-6D9E2F9A69A9}"/>
                </a:ext>
              </a:extLst>
            </p:cNvPr>
            <p:cNvGrpSpPr/>
            <p:nvPr/>
          </p:nvGrpSpPr>
          <p:grpSpPr>
            <a:xfrm>
              <a:off x="1343472" y="2276872"/>
              <a:ext cx="2520000" cy="3216728"/>
              <a:chOff x="1343472" y="2276872"/>
              <a:chExt cx="2520000" cy="321672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FBF809-C828-8B4B-70A3-1066F0143D8A}"/>
                  </a:ext>
                </a:extLst>
              </p:cNvPr>
              <p:cNvSpPr txBox="1"/>
              <p:nvPr/>
            </p:nvSpPr>
            <p:spPr>
              <a:xfrm>
                <a:off x="1343472" y="2276872"/>
                <a:ext cx="2520000" cy="3216728"/>
              </a:xfrm>
              <a:prstGeom prst="roundRect">
                <a:avLst/>
              </a:prstGeom>
              <a:solidFill>
                <a:srgbClr val="F7F7F7"/>
              </a:solidFill>
              <a:ln w="28575">
                <a:solidFill>
                  <a:srgbClr val="2EA836"/>
                </a:solidFill>
              </a:ln>
            </p:spPr>
            <p:txBody>
              <a:bodyPr wrap="square" rtlCol="0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610502-5458-206B-0095-A35C89332AA9}"/>
                  </a:ext>
                </a:extLst>
              </p:cNvPr>
              <p:cNvSpPr txBox="1"/>
              <p:nvPr/>
            </p:nvSpPr>
            <p:spPr>
              <a:xfrm>
                <a:off x="2140706" y="2767278"/>
                <a:ext cx="92525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0" b="1">
                    <a:solidFill>
                      <a:srgbClr val="2EA836"/>
                    </a:solidFill>
                  </a:rPr>
                  <a:t>C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B159BC-D2F4-AC13-1D39-FB7474BA6473}"/>
                  </a:ext>
                </a:extLst>
              </p:cNvPr>
              <p:cNvSpPr txBox="1"/>
              <p:nvPr/>
            </p:nvSpPr>
            <p:spPr>
              <a:xfrm>
                <a:off x="1926704" y="4090717"/>
                <a:ext cx="13532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/>
                  <a:t>Cognitive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5298617-024F-D197-511F-29C3E8D2A17B}"/>
                  </a:ext>
                </a:extLst>
              </p:cNvPr>
              <p:cNvSpPr txBox="1"/>
              <p:nvPr/>
            </p:nvSpPr>
            <p:spPr>
              <a:xfrm>
                <a:off x="1873061" y="4842441"/>
                <a:ext cx="1460542" cy="408623"/>
              </a:xfrm>
              <a:prstGeom prst="roundRect">
                <a:avLst/>
              </a:prstGeom>
              <a:solidFill>
                <a:srgbClr val="2EA836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>
                    <a:solidFill>
                      <a:schemeClr val="bg1"/>
                    </a:solidFill>
                  </a:rPr>
                  <a:t>BEFORE AI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4B52BE7-2F37-0DF4-DD2C-D0AAC13D0964}"/>
                </a:ext>
              </a:extLst>
            </p:cNvPr>
            <p:cNvGrpSpPr/>
            <p:nvPr/>
          </p:nvGrpSpPr>
          <p:grpSpPr>
            <a:xfrm>
              <a:off x="8400256" y="2267744"/>
              <a:ext cx="2520000" cy="3225856"/>
              <a:chOff x="8400256" y="2267744"/>
              <a:chExt cx="2520000" cy="3225856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00DF66-9B54-8777-D9E1-9A37315B5163}"/>
                  </a:ext>
                </a:extLst>
              </p:cNvPr>
              <p:cNvSpPr txBox="1"/>
              <p:nvPr/>
            </p:nvSpPr>
            <p:spPr>
              <a:xfrm>
                <a:off x="8400256" y="2267744"/>
                <a:ext cx="2520000" cy="3225856"/>
              </a:xfrm>
              <a:prstGeom prst="roundRect">
                <a:avLst/>
              </a:prstGeom>
              <a:solidFill>
                <a:srgbClr val="F7F7F7"/>
              </a:solidFill>
              <a:ln w="28575">
                <a:solidFill>
                  <a:srgbClr val="2EA836"/>
                </a:solidFill>
              </a:ln>
            </p:spPr>
            <p:txBody>
              <a:bodyPr wrap="square" rtlCol="0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57A399-846C-25D3-0B97-E7CC8509F315}"/>
                  </a:ext>
                </a:extLst>
              </p:cNvPr>
              <p:cNvSpPr txBox="1"/>
              <p:nvPr/>
            </p:nvSpPr>
            <p:spPr>
              <a:xfrm>
                <a:off x="9197629" y="2767278"/>
                <a:ext cx="92525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0" b="1">
                    <a:solidFill>
                      <a:srgbClr val="2EA836"/>
                    </a:solidFill>
                  </a:rPr>
                  <a:t>C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2395D8-0110-DE6B-8BD0-BA91CF91F220}"/>
                  </a:ext>
                </a:extLst>
              </p:cNvPr>
              <p:cNvSpPr txBox="1"/>
              <p:nvPr/>
            </p:nvSpPr>
            <p:spPr>
              <a:xfrm>
                <a:off x="9016032" y="4090717"/>
                <a:ext cx="13532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/>
                  <a:t>Cognitive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704989-A831-0136-F22C-7FF58B19C895}"/>
                  </a:ext>
                </a:extLst>
              </p:cNvPr>
              <p:cNvSpPr txBox="1"/>
              <p:nvPr/>
            </p:nvSpPr>
            <p:spPr>
              <a:xfrm>
                <a:off x="9028318" y="4842442"/>
                <a:ext cx="1276458" cy="408623"/>
              </a:xfrm>
              <a:prstGeom prst="roundRect">
                <a:avLst/>
              </a:prstGeom>
              <a:solidFill>
                <a:srgbClr val="2EA836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>
                    <a:solidFill>
                      <a:schemeClr val="bg1"/>
                    </a:solidFill>
                  </a:rPr>
                  <a:t>AFTER AI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07522D-B15F-1418-C982-1B403881C9A7}"/>
                </a:ext>
              </a:extLst>
            </p:cNvPr>
            <p:cNvGrpSpPr/>
            <p:nvPr/>
          </p:nvGrpSpPr>
          <p:grpSpPr>
            <a:xfrm>
              <a:off x="4871724" y="2267744"/>
              <a:ext cx="2520280" cy="3216728"/>
              <a:chOff x="4871724" y="2267744"/>
              <a:chExt cx="2520280" cy="321672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3DD22E-4C25-1C58-124E-3587EB4C7D9A}"/>
                  </a:ext>
                </a:extLst>
              </p:cNvPr>
              <p:cNvSpPr txBox="1"/>
              <p:nvPr/>
            </p:nvSpPr>
            <p:spPr>
              <a:xfrm>
                <a:off x="4871724" y="2267744"/>
                <a:ext cx="2520280" cy="3216728"/>
              </a:xfrm>
              <a:prstGeom prst="roundRect">
                <a:avLst/>
              </a:prstGeom>
              <a:solidFill>
                <a:srgbClr val="F7F7F7"/>
              </a:solidFill>
              <a:ln w="28575">
                <a:solidFill>
                  <a:srgbClr val="00A2C7"/>
                </a:solidFill>
              </a:ln>
            </p:spPr>
            <p:txBody>
              <a:bodyPr wrap="square" rtlCol="0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0B0863-4341-B07C-4F62-45DA8D6F1349}"/>
                  </a:ext>
                </a:extLst>
              </p:cNvPr>
              <p:cNvSpPr txBox="1"/>
              <p:nvPr/>
            </p:nvSpPr>
            <p:spPr>
              <a:xfrm>
                <a:off x="5669237" y="2767278"/>
                <a:ext cx="92525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0" b="1">
                    <a:solidFill>
                      <a:schemeClr val="accent5"/>
                    </a:solidFill>
                  </a:rPr>
                  <a:t>A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4F6503-110F-7A92-0783-70ED61008125}"/>
                  </a:ext>
                </a:extLst>
              </p:cNvPr>
              <p:cNvSpPr txBox="1"/>
              <p:nvPr/>
            </p:nvSpPr>
            <p:spPr>
              <a:xfrm>
                <a:off x="5911291" y="4090717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/>
                  <a:t>AI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C492F9-BFF4-6F24-1564-D9F80F298112}"/>
                  </a:ext>
                </a:extLst>
              </p:cNvPr>
              <p:cNvSpPr txBox="1"/>
              <p:nvPr/>
            </p:nvSpPr>
            <p:spPr>
              <a:xfrm>
                <a:off x="5100183" y="4842441"/>
                <a:ext cx="2048786" cy="408623"/>
              </a:xfrm>
              <a:prstGeom prst="roundRect">
                <a:avLst/>
              </a:prstGeom>
              <a:solidFill>
                <a:srgbClr val="00A2C7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>
                    <a:solidFill>
                      <a:schemeClr val="bg1"/>
                    </a:solidFill>
                  </a:rPr>
                  <a:t>WHILE USING AI</a:t>
                </a:r>
              </a:p>
            </p:txBody>
          </p:sp>
        </p:grp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CBBBA6E4-7454-FCE5-A0C1-B3C3BC86191A}"/>
                </a:ext>
              </a:extLst>
            </p:cNvPr>
            <p:cNvSpPr/>
            <p:nvPr/>
          </p:nvSpPr>
          <p:spPr>
            <a:xfrm>
              <a:off x="4115570" y="3645024"/>
              <a:ext cx="504056" cy="445693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6EFE5C71-F295-9B16-1223-9EA47BD0B4A8}"/>
                </a:ext>
              </a:extLst>
            </p:cNvPr>
            <p:cNvSpPr/>
            <p:nvPr/>
          </p:nvSpPr>
          <p:spPr>
            <a:xfrm>
              <a:off x="7644102" y="3645023"/>
              <a:ext cx="504056" cy="445693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AEEA7F7-AE2D-B3C3-4D0F-C13C6CEB6DD1}"/>
              </a:ext>
            </a:extLst>
          </p:cNvPr>
          <p:cNvSpPr txBox="1"/>
          <p:nvPr/>
        </p:nvSpPr>
        <p:spPr>
          <a:xfrm>
            <a:off x="2762857" y="5845214"/>
            <a:ext cx="6929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Nikolic, S. (2025). CAC Co-intelligence: Teaching AI Use That Strengthens the Mind. Sasha Nikolic.</a:t>
            </a:r>
          </a:p>
        </p:txBody>
      </p:sp>
    </p:spTree>
    <p:extLst>
      <p:ext uri="{BB962C8B-B14F-4D97-AF65-F5344CB8AC3E}">
        <p14:creationId xmlns:p14="http://schemas.microsoft.com/office/powerpoint/2010/main" val="167826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52E0B-9156-902C-0B15-14DE0740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7203AB-0CC2-6CBA-EC24-DE245136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 Co-intelligence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E7305-F70C-CD9C-9862-A310C4D341D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 dirty="0"/>
              <a:t>Developed by Chloe Salisbury. Last updated 16/2/26.</a:t>
            </a:r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0CFE8-B24C-9A6E-C019-F9C4F51AD9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BDCD06-DB34-E7ED-CAFB-5F7BB775280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Are you using AI, or is AI using you?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8EB4F6-FF87-7BA8-125C-65892279DC3A}"/>
              </a:ext>
            </a:extLst>
          </p:cNvPr>
          <p:cNvGrpSpPr/>
          <p:nvPr/>
        </p:nvGrpSpPr>
        <p:grpSpPr>
          <a:xfrm>
            <a:off x="176108" y="2079380"/>
            <a:ext cx="11839783" cy="3953832"/>
            <a:chOff x="194172" y="1957903"/>
            <a:chExt cx="11839783" cy="39538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4210F9-C0C9-AD00-73BE-F053207BD093}"/>
                </a:ext>
              </a:extLst>
            </p:cNvPr>
            <p:cNvSpPr txBox="1"/>
            <p:nvPr/>
          </p:nvSpPr>
          <p:spPr>
            <a:xfrm>
              <a:off x="420180" y="1962467"/>
              <a:ext cx="2520000" cy="586928"/>
            </a:xfrm>
            <a:prstGeom prst="roundRect">
              <a:avLst/>
            </a:prstGeom>
            <a:solidFill>
              <a:srgbClr val="F7F7F7"/>
            </a:solidFill>
            <a:ln w="28575">
              <a:solidFill>
                <a:srgbClr val="2EA836"/>
              </a:solidFill>
            </a:ln>
          </p:spPr>
          <p:txBody>
            <a:bodyPr wrap="square" rtlCol="0">
              <a:no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E358F8-2859-6045-BA60-EFEC34B5DE04}"/>
                </a:ext>
              </a:extLst>
            </p:cNvPr>
            <p:cNvSpPr txBox="1"/>
            <p:nvPr/>
          </p:nvSpPr>
          <p:spPr>
            <a:xfrm>
              <a:off x="1003412" y="2055876"/>
              <a:ext cx="1353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>
                  <a:solidFill>
                    <a:srgbClr val="2EA836"/>
                  </a:solidFill>
                </a:rPr>
                <a:t>C</a:t>
              </a:r>
              <a:r>
                <a:rPr lang="en-US" sz="2000" b="1"/>
                <a:t>ognitive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4D3BA6-B03E-A246-CC2D-A0B3FC104154}"/>
                </a:ext>
              </a:extLst>
            </p:cNvPr>
            <p:cNvSpPr txBox="1"/>
            <p:nvPr/>
          </p:nvSpPr>
          <p:spPr>
            <a:xfrm>
              <a:off x="7778351" y="1970238"/>
              <a:ext cx="3315494" cy="596056"/>
            </a:xfrm>
            <a:prstGeom prst="roundRect">
              <a:avLst/>
            </a:prstGeom>
            <a:solidFill>
              <a:srgbClr val="F7F7F7"/>
            </a:solidFill>
            <a:ln w="28575">
              <a:solidFill>
                <a:srgbClr val="2EA836"/>
              </a:solidFill>
            </a:ln>
          </p:spPr>
          <p:txBody>
            <a:bodyPr wrap="square" rtlCol="0">
              <a:noAutofit/>
            </a:bodyPr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22CA330-3E54-3B29-8A91-3C8BE85D7B93}"/>
                </a:ext>
              </a:extLst>
            </p:cNvPr>
            <p:cNvSpPr txBox="1"/>
            <p:nvPr/>
          </p:nvSpPr>
          <p:spPr>
            <a:xfrm>
              <a:off x="8759470" y="2068211"/>
              <a:ext cx="1353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2EA836"/>
                  </a:solidFill>
                </a:rPr>
                <a:t>C</a:t>
              </a:r>
              <a:r>
                <a:rPr lang="en-US" sz="2000" b="1" dirty="0"/>
                <a:t>ognitive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6AD21C-F6F0-FFA9-8A84-0959D5916BF2}"/>
                </a:ext>
              </a:extLst>
            </p:cNvPr>
            <p:cNvSpPr txBox="1"/>
            <p:nvPr/>
          </p:nvSpPr>
          <p:spPr>
            <a:xfrm>
              <a:off x="3948432" y="1957903"/>
              <a:ext cx="2520280" cy="596056"/>
            </a:xfrm>
            <a:prstGeom prst="roundRect">
              <a:avLst/>
            </a:prstGeom>
            <a:solidFill>
              <a:srgbClr val="F7F7F7"/>
            </a:solidFill>
            <a:ln w="28575">
              <a:solidFill>
                <a:srgbClr val="00A2C7"/>
              </a:solidFill>
            </a:ln>
          </p:spPr>
          <p:txBody>
            <a:bodyPr wrap="square" rtlCol="0">
              <a:noAutofit/>
            </a:bodyPr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BE92E-B47E-E923-4D6F-11D9C94057AD}"/>
                </a:ext>
              </a:extLst>
            </p:cNvPr>
            <p:cNvSpPr txBox="1"/>
            <p:nvPr/>
          </p:nvSpPr>
          <p:spPr>
            <a:xfrm>
              <a:off x="4987998" y="2055876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>
                  <a:solidFill>
                    <a:schemeClr val="accent5"/>
                  </a:solidFill>
                </a:rPr>
                <a:t>A</a:t>
              </a:r>
              <a:r>
                <a:rPr lang="en-US" sz="2000" b="1"/>
                <a:t>I</a:t>
              </a:r>
            </a:p>
          </p:txBody>
        </p:sp>
        <p:sp>
          <p:nvSpPr>
            <p:cNvPr id="32" name="Right Arrow 31">
              <a:extLst>
                <a:ext uri="{FF2B5EF4-FFF2-40B4-BE49-F238E27FC236}">
                  <a16:creationId xmlns:a16="http://schemas.microsoft.com/office/drawing/2014/main" id="{9C0D118A-1429-CCC8-EC22-3D13D56CF927}"/>
                </a:ext>
              </a:extLst>
            </p:cNvPr>
            <p:cNvSpPr/>
            <p:nvPr/>
          </p:nvSpPr>
          <p:spPr>
            <a:xfrm>
              <a:off x="3212958" y="2033085"/>
              <a:ext cx="504056" cy="445693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ight Arrow 32">
              <a:extLst>
                <a:ext uri="{FF2B5EF4-FFF2-40B4-BE49-F238E27FC236}">
                  <a16:creationId xmlns:a16="http://schemas.microsoft.com/office/drawing/2014/main" id="{47EF4840-F68C-1834-5E02-6B96859CC114}"/>
                </a:ext>
              </a:extLst>
            </p:cNvPr>
            <p:cNvSpPr/>
            <p:nvPr/>
          </p:nvSpPr>
          <p:spPr>
            <a:xfrm>
              <a:off x="6720739" y="2033085"/>
              <a:ext cx="504056" cy="445693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C0826E-9597-EACD-A7E1-F15F9F447F58}"/>
                </a:ext>
              </a:extLst>
            </p:cNvPr>
            <p:cNvSpPr txBox="1"/>
            <p:nvPr/>
          </p:nvSpPr>
          <p:spPr>
            <a:xfrm>
              <a:off x="6999110" y="2849372"/>
              <a:ext cx="5034845" cy="3057800"/>
            </a:xfrm>
            <a:prstGeom prst="roundRect">
              <a:avLst/>
            </a:prstGeom>
            <a:solidFill>
              <a:srgbClr val="2EA836">
                <a:alpha val="32157"/>
              </a:srgbClr>
            </a:solidFill>
            <a:ln w="28575">
              <a:solidFill>
                <a:srgbClr val="2EA836"/>
              </a:solidFill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285750" lvl="1" indent="-285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500" b="1" dirty="0"/>
                <a:t>Accuracy: </a:t>
              </a:r>
              <a:r>
                <a:rPr lang="en-US" sz="1500" dirty="0"/>
                <a:t>What evidence supports the information, and can I verify it using reliable sources? </a:t>
              </a:r>
            </a:p>
            <a:p>
              <a:pPr marL="285750" lvl="1" indent="-285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500" b="1" dirty="0"/>
                <a:t>Relevance: </a:t>
              </a:r>
              <a:r>
                <a:rPr lang="en-US" sz="1500" dirty="0"/>
                <a:t>Does this directly answer the question I asked? </a:t>
              </a:r>
            </a:p>
            <a:p>
              <a:pPr marL="285750" lvl="1" indent="-285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500" b="1" dirty="0"/>
                <a:t>Coherence: </a:t>
              </a:r>
              <a:r>
                <a:rPr lang="en-US" sz="1500" dirty="0"/>
                <a:t>Do the points follow logically, or are there contradictors, gaps or vague leaps? </a:t>
              </a:r>
            </a:p>
            <a:p>
              <a:pPr marL="285750" lvl="1" indent="-285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500" b="1" dirty="0"/>
                <a:t>Breadth: </a:t>
              </a:r>
              <a:r>
                <a:rPr lang="en-US" sz="1500" dirty="0"/>
                <a:t>Have I seen a range of perspectives and ideas, or only one view? </a:t>
              </a:r>
            </a:p>
            <a:p>
              <a:pPr marL="285750" lvl="1" indent="-285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500" b="1" dirty="0"/>
                <a:t>Depth: </a:t>
              </a:r>
              <a:r>
                <a:rPr lang="en-US" sz="1500" dirty="0"/>
                <a:t>Does this go beyond surface-level claims to support my own judgement? </a:t>
              </a:r>
            </a:p>
            <a:p>
              <a:pPr marL="285750" lvl="1" indent="-285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en-US" sz="15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EA6C03B-1DCD-5CD5-C2D9-880C67BCE0F5}"/>
                </a:ext>
              </a:extLst>
            </p:cNvPr>
            <p:cNvSpPr txBox="1"/>
            <p:nvPr/>
          </p:nvSpPr>
          <p:spPr>
            <a:xfrm>
              <a:off x="194172" y="2849370"/>
              <a:ext cx="2971735" cy="3062365"/>
            </a:xfrm>
            <a:prstGeom prst="roundRect">
              <a:avLst/>
            </a:prstGeom>
            <a:solidFill>
              <a:srgbClr val="2EA836">
                <a:alpha val="32157"/>
              </a:srgbClr>
            </a:solidFill>
            <a:ln w="28575">
              <a:solidFill>
                <a:srgbClr val="2EA836"/>
              </a:solidFill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177750" lvl="0" indent="-177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AU" sz="1400" dirty="0"/>
                <a:t>Have I thought about what the task is and what I need to do myself?</a:t>
              </a:r>
            </a:p>
            <a:p>
              <a:pPr marL="177750" lvl="0" indent="-177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AU" sz="1400" dirty="0"/>
                <a:t>What knowledge or skills do I hope to develop or improve through completing the task?</a:t>
              </a:r>
            </a:p>
            <a:p>
              <a:pPr marL="177750" indent="-177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AU" sz="1400" dirty="0"/>
                <a:t>How can AI support, not replace, my work and skill development?</a:t>
              </a:r>
            </a:p>
            <a:p>
              <a:pPr marL="177750" lvl="0" indent="-177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AU" sz="1400" dirty="0"/>
                <a:t>Are there any ethical or integrity issues to consider?</a:t>
              </a:r>
              <a:endParaRPr lang="en-AU" sz="1400" dirty="0">
                <a:cs typeface="Arial"/>
              </a:endParaRPr>
            </a:p>
            <a:p>
              <a:pPr marL="177750" indent="-1777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AU" sz="1400" dirty="0"/>
                <a:t>Plan and prepare.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7BBD55-B8D1-167E-2C7A-3C5A0D40B4BD}"/>
                </a:ext>
              </a:extLst>
            </p:cNvPr>
            <p:cNvSpPr txBox="1"/>
            <p:nvPr/>
          </p:nvSpPr>
          <p:spPr>
            <a:xfrm>
              <a:off x="3769754" y="2849370"/>
              <a:ext cx="2877634" cy="3057801"/>
            </a:xfrm>
            <a:prstGeom prst="roundRect">
              <a:avLst/>
            </a:prstGeom>
            <a:solidFill>
              <a:schemeClr val="accent5">
                <a:alpha val="32157"/>
              </a:schemeClr>
            </a:solidFill>
            <a:ln w="28575">
              <a:solidFill>
                <a:schemeClr val="accent5"/>
              </a:solidFill>
            </a:ln>
          </p:spPr>
          <p:txBody>
            <a:bodyPr wrap="square" rtlCol="0">
              <a:noAutofit/>
            </a:bodyPr>
            <a:lstStyle/>
            <a:p>
              <a:pPr marL="285750" lvl="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AU" sz="1500" dirty="0"/>
                <a:t>Which AI tool is the best fit for the task?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AU" sz="1500" dirty="0"/>
                <a:t>Am I upholding any ethical or integrity considerations? </a:t>
              </a:r>
              <a:endParaRPr lang="en-US" sz="15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7488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3B9352-37AC-9B6E-D260-E4C3F5D0A0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[Design an example activity within your discipline that enables students to apply the CAC framework.]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E4845D-6B85-CA97-199F-53AE4168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 Co-intelligence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5BCF6-870E-A1B0-DB84-B9E59A71C02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7EB76-DB29-40A6-3C5E-434B67C86A8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B21B97-200B-ABFC-1645-C8AC0CB91B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173147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6C0DCB-2626-4B53-B361-25C88FBC41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Dr Chloe Salisbury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C8F697-BD5F-4061-8478-16E70F40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D93B7-F1C0-474E-A8DE-20D219C4EE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394" y="3941136"/>
            <a:ext cx="2162451" cy="215444"/>
          </a:xfrm>
        </p:spPr>
        <p:txBody>
          <a:bodyPr/>
          <a:lstStyle/>
          <a:p>
            <a:r>
              <a:rPr lang="en-AU" dirty="0" err="1"/>
              <a:t>chloe.salisbury@uq.edu.au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78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-PowerPoint-template" id="{77828F8A-DB63-0A4A-841F-23FA6B70F718}" vid="{CA0FB5E4-0CD0-9C43-BF98-9BFD66C680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A3A90F7871904891A840A1C584FE58" ma:contentTypeVersion="8" ma:contentTypeDescription="Create a new document." ma:contentTypeScope="" ma:versionID="861a5e39c76574acc7250f6e861d0da7">
  <xsd:schema xmlns:xsd="http://www.w3.org/2001/XMLSchema" xmlns:xs="http://www.w3.org/2001/XMLSchema" xmlns:p="http://schemas.microsoft.com/office/2006/metadata/properties" xmlns:ns2="5be82c79-b423-4e92-ae0c-8f573e59db03" targetNamespace="http://schemas.microsoft.com/office/2006/metadata/properties" ma:root="true" ma:fieldsID="bdbb516f84b07b281ad6866eeca4cc62" ns2:_="">
    <xsd:import namespace="5be82c79-b423-4e92-ae0c-8f573e59db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e82c79-b423-4e92-ae0c-8f573e59db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BE4931-9BB8-468F-8432-568DCCCD33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e82c79-b423-4e92-ae0c-8f573e59db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A6ACFB-BBAF-41D0-B45A-5E57454824E9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65b0f26f-95df-44cf-88fa-e9c7b5beb0cc"/>
    <ds:schemaRef ds:uri="http://purl.org/dc/dcmitype/"/>
    <ds:schemaRef ds:uri="http://schemas.microsoft.com/office/infopath/2007/PartnerControls"/>
    <ds:schemaRef ds:uri="94ba416d-00cf-4134-b72c-a9e48d8869b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22</TotalTime>
  <Words>639</Words>
  <Application>Microsoft Office PowerPoint</Application>
  <PresentationFormat>Widescreen</PresentationFormat>
  <Paragraphs>58</Paragraphs>
  <Slides>6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University of Queensland</vt:lpstr>
      <vt:lpstr>Instructions (for staff)</vt:lpstr>
      <vt:lpstr>Using AI responsibly in your learning</vt:lpstr>
      <vt:lpstr>CAC Co-intelligence framework</vt:lpstr>
      <vt:lpstr>CAC Co-intelligence framework</vt:lpstr>
      <vt:lpstr>CAC Co-intelligence framework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Chloe Salisbury</dc:creator>
  <cp:lastModifiedBy>Chloe Salisbury</cp:lastModifiedBy>
  <cp:revision>2</cp:revision>
  <dcterms:created xsi:type="dcterms:W3CDTF">2026-02-16T02:22:04Z</dcterms:created>
  <dcterms:modified xsi:type="dcterms:W3CDTF">2026-02-16T05:12:25Z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0x010100A8A3A90F7871904891A840A1C584FE58</vt:lpwstr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</Properties>
</file>